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regular.fntdata"/><Relationship Id="rId14" Type="http://schemas.openxmlformats.org/officeDocument/2006/relationships/font" Target="fonts/Average-regular.fntdata"/><Relationship Id="rId16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c95ece4ed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c95ece4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95ece4ed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c95ece4e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95ece4ed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95ece4e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YOLO </a:t>
            </a:r>
            <a:r>
              <a:rPr lang="ko"/>
              <a:t>버전별 비교내용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645900" y="2284350"/>
            <a:ext cx="78522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v8                                                                                       v10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v11n                                                                                    v11s</a:t>
            </a:r>
            <a:endParaRPr sz="1500"/>
          </a:p>
        </p:txBody>
      </p:sp>
      <p:pic>
        <p:nvPicPr>
          <p:cNvPr id="65" name="Google Shape;65;p14" title="results_y8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475"/>
            <a:ext cx="4222653" cy="211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results_y10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3828" y="113575"/>
            <a:ext cx="4222653" cy="211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results_y11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18600"/>
            <a:ext cx="4222648" cy="211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results_y11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7350" y="2918600"/>
            <a:ext cx="4222648" cy="21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273275" y="288850"/>
            <a:ext cx="4045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v8</a:t>
            </a:r>
            <a:endParaRPr/>
          </a:p>
        </p:txBody>
      </p:sp>
      <p:sp>
        <p:nvSpPr>
          <p:cNvPr id="74" name="Google Shape;74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YOLOv8: Baseline Model (안정적 성능)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Ultralytics의 현 세대 표준 모델로, 이전 버전에 비해 효율적인 구조와 빠른 속도를 자랑합니다. 안정적인 성능을 위한 기준점으로 활용했습니다.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mAP50-95: [실제값: 약 0.70 대]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수렴 속도는 빠르지만, 최종 Loss 값의 하한선이 다른 최신 모델 대비 다소 높게 형성되었습니다.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[장점] 학습 안정성이 높고, 범용적인 환경에서 준수한 성능 보장.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[단점] 저희 프로젝트의 작은 객체 인식 요구사항(CCTV 환경)에는 최종 정확도에 한계가 있었습니다.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만족스러운 성능은 아니지만, 개선 여부를 판단하는 기준 모델 역할.</a:t>
            </a:r>
            <a:endParaRPr sz="1100"/>
          </a:p>
        </p:txBody>
      </p:sp>
      <p:pic>
        <p:nvPicPr>
          <p:cNvPr id="75" name="Google Shape;75;p15" title="results_y8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0" y="1516088"/>
            <a:ext cx="4222653" cy="2111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273275" y="288850"/>
            <a:ext cx="4045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v10</a:t>
            </a:r>
            <a:endParaRPr/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YOLOv10: 속도 최적화 모델 (NMS 제거)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추론 속도 향상을 위해 후처리 과정인 NMS를 제거하여 엔드-투-엔드 추론이 가능해진 모델입니다.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mAP50-95: [실제값: v8과 유사하거나 약간 높은 0.70대 초반]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Loss의 최종 수렴치가 v8과 비슷하거나 약간 높은 경향을 보였습니다.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[장점] NMS 제거로 추론 속도 면에서 잠재력이 높습니다.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[단점] 저희 데이터셋에서는 NMS-Free의 장점 대비 정확도 향상 폭이 크지 않았습니다. v8 대비 유의미한 성능 개선을 보여주지 못했습니다.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속도 집중형 모델이지만, 정확도(신뢰성) 요구사항(95% 이상) 충족에는 부족했습니다.</a:t>
            </a:r>
            <a:endParaRPr sz="1100"/>
          </a:p>
        </p:txBody>
      </p:sp>
      <p:pic>
        <p:nvPicPr>
          <p:cNvPr id="82" name="Google Shape;82;p16" title="results_y10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3" y="1516088"/>
            <a:ext cx="4222653" cy="2111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73275" y="288850"/>
            <a:ext cx="4045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v11n</a:t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YOLOv11n: 최신 SOTA 아키텍처 (고효율/Nano)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YOLOv11의 가장 작은 모델 버전으로, 새로운 구조를 통해 성능 대비 파라미터 수가 가장 효율적인 최신 모델입니다.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mAP50-95: [실제값: v8, v10 대비 개선된 0.75 내외]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v8, v10 대비 초기부터 빠르게 하강하며 수렴 속도 및 최종 Loss가 개선되었습니다.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[장점] 압도적인 학습 수렴 속도와 뛰어난 가성비(Small/Nano 중 가장 가벼움)를 가집니다.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[단점] 모델 크기 한계로 인해, 원거리에서 촬영된 매우 작은 의류 객체를 탐지할 때 오탐률이 발생했습니다.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성능 대비 효율은 최고였으나, 목표 정확도(95% 신뢰성) 달성을 위해 더 높은 체급이 필요하다고 판단했습니다.</a:t>
            </a:r>
            <a:endParaRPr/>
          </a:p>
        </p:txBody>
      </p:sp>
      <p:pic>
        <p:nvPicPr>
          <p:cNvPr id="89" name="Google Shape;89;p17" title="results_y11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0" y="1516088"/>
            <a:ext cx="4222648" cy="21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73275" y="288850"/>
            <a:ext cx="40452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v11s</a:t>
            </a:r>
            <a:endParaRPr/>
          </a:p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YOLOv11s: 최종 선정 모델 (최고 정확도)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YOLOv11의 Small 버전으로, Nano 대비 더 많은 특징 추출 파라미터를 사용하여 복잡하고 정밀한 인식에 초점을 맞춘 모델입니다.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mAP50-95: [실제값: 0.80 이상] (후보 중 최고)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Loss가 가장 낮고 안정적으로 수렴했습니다. 이는 바운딩 박스의 정밀도(위치 오차)가 가장 적다는 의미입니다.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[최적화] 파라미터 수 증가가 정확도 상승으로 직결되었습니다. CCTV 환경의 작은 객체 문제를 가장 잘 해결했습니다.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[성능] 속도와 정확도를 모두 잡은, 본 프로젝트의 요구사항(신뢰성 95% 이상)에 가장 근접한 모델입니다.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정확도/신뢰성을 최우선으로 하는 Picker 프로젝트에 가장 적합한 최종 선정 모델입니다.</a:t>
            </a:r>
            <a:endParaRPr sz="1100"/>
          </a:p>
        </p:txBody>
      </p:sp>
      <p:pic>
        <p:nvPicPr>
          <p:cNvPr id="96" name="Google Shape;96;p18" title="results_y11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550" y="1516088"/>
            <a:ext cx="4222648" cy="21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정리</a:t>
            </a:r>
            <a:endParaRPr/>
          </a:p>
        </p:txBody>
      </p:sp>
      <p:grpSp>
        <p:nvGrpSpPr>
          <p:cNvPr id="102" name="Google Shape;102;p19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03" name="Google Shape;103;p19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</p:grpSp>
      <p:sp>
        <p:nvSpPr>
          <p:cNvPr id="105" name="Google Shape;105;p19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lt1"/>
                </a:solidFill>
              </a:rPr>
              <a:t>yolo v8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06" name="Google Shape;106;p19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안정적인 베이스라인.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이유: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준수한 성능이지만, 최신 아키텍처인 v11에 비해 정확도와 학습 수렴 속도 모두 밀림.</a:t>
            </a:r>
            <a:endParaRPr sz="1300">
              <a:solidFill>
                <a:schemeClr val="lt1"/>
              </a:solidFill>
            </a:endParaRPr>
          </a:p>
        </p:txBody>
      </p:sp>
      <p:grpSp>
        <p:nvGrpSpPr>
          <p:cNvPr id="107" name="Google Shape;107;p19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08" name="Google Shape;108;p19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</p:grpSp>
      <p:sp>
        <p:nvSpPr>
          <p:cNvPr id="110" name="Google Shape;110;p19"/>
          <p:cNvSpPr txBox="1"/>
          <p:nvPr>
            <p:ph idx="4294967295" type="body"/>
          </p:nvPr>
        </p:nvSpPr>
        <p:spPr>
          <a:xfrm>
            <a:off x="539675" y="21274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lt1"/>
                </a:solidFill>
              </a:rPr>
              <a:t>yolo v10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1" name="Google Shape;111;p19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추론 속도 중심(NMS Free).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이유: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본 프로젝트 데이터셋에서는 v11 시리즈 대비 학습 안정성과 최종 정확도가 다소 부족했음.</a:t>
            </a:r>
            <a:endParaRPr sz="1300">
              <a:solidFill>
                <a:schemeClr val="lt1"/>
              </a:solidFill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424825" y="3000705"/>
            <a:ext cx="8294360" cy="799447"/>
            <a:chOff x="424813" y="2974405"/>
            <a:chExt cx="8294360" cy="849933"/>
          </a:xfrm>
        </p:grpSpPr>
        <p:sp>
          <p:nvSpPr>
            <p:cNvPr id="113" name="Google Shape;113;p19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</p:grpSp>
      <p:sp>
        <p:nvSpPr>
          <p:cNvPr id="115" name="Google Shape;115;p19"/>
          <p:cNvSpPr txBox="1"/>
          <p:nvPr>
            <p:ph idx="4294967295" type="body"/>
          </p:nvPr>
        </p:nvSpPr>
        <p:spPr>
          <a:xfrm>
            <a:off x="539675" y="3000775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lt1"/>
                </a:solidFill>
              </a:rPr>
              <a:t>yolo v11n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6" name="Google Shape;116;p19"/>
          <p:cNvSpPr txBox="1"/>
          <p:nvPr>
            <p:ph idx="4294967295" type="body"/>
          </p:nvPr>
        </p:nvSpPr>
        <p:spPr>
          <a:xfrm>
            <a:off x="3480453" y="300431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압도적인 학습 속도, 훌륭한 가성비.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이유: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v8 대비 성능이 비약적으로 상승했으나, 태생적인 체급 차이로 11s보다는 정밀도가 약간 낮음.</a:t>
            </a:r>
            <a:endParaRPr sz="1300">
              <a:solidFill>
                <a:schemeClr val="lt1"/>
              </a:solidFill>
            </a:endParaRPr>
          </a:p>
        </p:txBody>
      </p:sp>
      <p:grpSp>
        <p:nvGrpSpPr>
          <p:cNvPr id="117" name="Google Shape;117;p19"/>
          <p:cNvGrpSpPr/>
          <p:nvPr/>
        </p:nvGrpSpPr>
        <p:grpSpPr>
          <a:xfrm>
            <a:off x="424825" y="3874103"/>
            <a:ext cx="8294360" cy="799447"/>
            <a:chOff x="424813" y="3871259"/>
            <a:chExt cx="8294360" cy="849933"/>
          </a:xfrm>
        </p:grpSpPr>
        <p:sp>
          <p:nvSpPr>
            <p:cNvPr id="118" name="Google Shape;118;p19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</p:txBody>
        </p:sp>
      </p:grpSp>
      <p:sp>
        <p:nvSpPr>
          <p:cNvPr id="120" name="Google Shape;120;p19"/>
          <p:cNvSpPr txBox="1"/>
          <p:nvPr>
            <p:ph idx="4294967295" type="body"/>
          </p:nvPr>
        </p:nvSpPr>
        <p:spPr>
          <a:xfrm>
            <a:off x="53967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lt1"/>
                </a:solidFill>
              </a:rPr>
              <a:t>yolo v11s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348045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가장 높은 정확도(mAP50-95), 가장 낮은 Loss(정밀함)</a:t>
            </a:r>
            <a:r>
              <a:rPr lang="ko" sz="1300">
                <a:solidFill>
                  <a:schemeClr val="lt1"/>
                </a:solidFill>
              </a:rPr>
              <a:t> 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이유:</a:t>
            </a:r>
            <a:r>
              <a:rPr lang="ko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CCTV 특성상(멀리 있는 작은 객체) 파라미터 수가 더 많은 Small 모델이 Nano 모델보다 특징 추출 능력이 우수함.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4294967295" type="title"/>
          </p:nvPr>
        </p:nvSpPr>
        <p:spPr>
          <a:xfrm>
            <a:off x="311700" y="841225"/>
            <a:ext cx="85206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latin typeface="Arial"/>
                <a:ea typeface="Arial"/>
                <a:cs typeface="Arial"/>
                <a:sym typeface="Arial"/>
              </a:rPr>
              <a:t>모델별 최종 비교 및 YOLOv11n 선정 근거</a:t>
            </a:r>
            <a:endParaRPr sz="2500"/>
          </a:p>
        </p:txBody>
      </p:sp>
      <p:sp>
        <p:nvSpPr>
          <p:cNvPr id="127" name="Google Shape;127;p20"/>
          <p:cNvSpPr txBox="1"/>
          <p:nvPr>
            <p:ph idx="4294967295" type="body"/>
          </p:nvPr>
        </p:nvSpPr>
        <p:spPr>
          <a:xfrm>
            <a:off x="388500" y="1981025"/>
            <a:ext cx="8443800" cy="23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v8이 놓치거나 애매하게 잡는 작은 의류 객체를 v11s는 감지하고 정밀한 박스를 그립니다.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v8/v10은 안정적이지만 정확도 한계, v11s는 매우 정확하지만 처리 속도 문제, v11n은 적정한 수준의 빠르기와 정밀도를 가지고 있습니다.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YOLOv11n를 선정하여 재고 인식의 신뢰성과 속도를 높이고, AMR 시스템의 안정적인 운영 기반을 마련했습니다.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