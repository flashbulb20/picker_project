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5143500" cx="9144000"/>
  <p:notesSz cx="6858000" cy="9144000"/>
  <p:embeddedFontLst>
    <p:embeddedFont>
      <p:font typeface="Average"/>
      <p:regular r:id="rId14"/>
    </p:embeddedFont>
    <p:embeddedFont>
      <p:font typeface="Oswald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Oswald-regular.fntdata"/><Relationship Id="rId14" Type="http://schemas.openxmlformats.org/officeDocument/2006/relationships/font" Target="fonts/Average-regular.fntdata"/><Relationship Id="rId16" Type="http://schemas.openxmlformats.org/officeDocument/2006/relationships/font" Target="fonts/Oswa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80f91_0_0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80f9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c6f980f91_0_3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c6f980f9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c6f980f91_0_3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c6f980f91_0_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g3ac95ece4ed_0_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" name="Google Shape;78;g3ac95ece4ed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3ac95ece4ed_0_13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" name="Google Shape;85;g3ac95ece4ed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ac95ece4ed_0_19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ac95ece4ed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c6f980f91_0_81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c6f980f91_0_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c6f980f91_0_48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c6f980f91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4350279" y="2855377"/>
            <a:ext cx="443589" cy="105632"/>
            <a:chOff x="4137525" y="2915950"/>
            <a:chExt cx="869100" cy="207000"/>
          </a:xfrm>
        </p:grpSpPr>
        <p:sp>
          <p:nvSpPr>
            <p:cNvPr id="11" name="Google Shape;11;p2"/>
            <p:cNvSpPr/>
            <p:nvPr/>
          </p:nvSpPr>
          <p:spPr>
            <a:xfrm>
              <a:off x="446857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47996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4137525" y="2915950"/>
              <a:ext cx="207000" cy="207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4" name="Google Shape;14;p2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p2"/>
          <p:cNvSpPr txBox="1"/>
          <p:nvPr>
            <p:ph idx="1" type="subTitle"/>
          </p:nvPr>
        </p:nvSpPr>
        <p:spPr>
          <a:xfrm>
            <a:off x="671250" y="3174876"/>
            <a:ext cx="78015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671250" y="2141250"/>
            <a:ext cx="7852200" cy="861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6" name="Google Shape;26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7" name="Google Shape;27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4" name="Google Shape;34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5" name="Google Shape;35;p7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lt2"/>
        </a:solid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490250" y="526350"/>
            <a:ext cx="62271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9"/>
          <p:cNvSpPr txBox="1"/>
          <p:nvPr>
            <p:ph type="title"/>
          </p:nvPr>
        </p:nvSpPr>
        <p:spPr>
          <a:xfrm>
            <a:off x="265500" y="1081400"/>
            <a:ext cx="4045200" cy="1710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" name="Google Shape;43;p9"/>
          <p:cNvSpPr txBox="1"/>
          <p:nvPr>
            <p:ph idx="1" type="subTitle"/>
          </p:nvPr>
        </p:nvSpPr>
        <p:spPr>
          <a:xfrm>
            <a:off x="265500" y="2845201"/>
            <a:ext cx="4045200" cy="134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4" name="Google Shape;44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" name="Google Shape;45;p9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Oswald"/>
              <a:buNone/>
              <a:defRPr sz="21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</a:lstStyle>
          <a:p/>
        </p:txBody>
      </p:sp>
      <p:sp>
        <p:nvSpPr>
          <p:cNvPr id="48" name="Google Shape;48;p10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/>
          <p:nvPr>
            <p:ph hasCustomPrompt="1" type="title"/>
          </p:nvPr>
        </p:nvSpPr>
        <p:spPr>
          <a:xfrm>
            <a:off x="311700" y="1255275"/>
            <a:ext cx="8520600" cy="1890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/>
          <p:nvPr>
            <p:ph idx="1" type="body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late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swald"/>
              <a:buNone/>
              <a:defRPr sz="3000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Average"/>
              <a:buChar char="●"/>
              <a:defRPr sz="18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●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verage"/>
              <a:buChar char="○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accent3"/>
              </a:buClr>
              <a:buSzPts val="1400"/>
              <a:buFont typeface="Average"/>
              <a:buChar char="■"/>
              <a:defRPr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90250" y="4681009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1pPr>
            <a:lvl2pPr lvl="1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2pPr>
            <a:lvl3pPr lvl="2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3pPr>
            <a:lvl4pPr lvl="3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4pPr>
            <a:lvl5pPr lvl="4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5pPr>
            <a:lvl6pPr lvl="5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6pPr>
            <a:lvl7pPr lvl="6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7pPr>
            <a:lvl8pPr lvl="7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8pPr>
            <a:lvl9pPr lvl="8" algn="r">
              <a:buNone/>
              <a:defRPr sz="1000">
                <a:solidFill>
                  <a:schemeClr val="accent3"/>
                </a:solidFill>
                <a:latin typeface="Average"/>
                <a:ea typeface="Average"/>
                <a:cs typeface="Average"/>
                <a:sym typeface="Average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/>
          <p:nvPr>
            <p:ph type="ctrTitle"/>
          </p:nvPr>
        </p:nvSpPr>
        <p:spPr>
          <a:xfrm>
            <a:off x="671258" y="990800"/>
            <a:ext cx="7801500" cy="1730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YOLO </a:t>
            </a:r>
            <a:r>
              <a:rPr lang="ko"/>
              <a:t>버전별 비교내용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/>
          <p:nvPr>
            <p:ph type="title"/>
          </p:nvPr>
        </p:nvSpPr>
        <p:spPr>
          <a:xfrm>
            <a:off x="645900" y="2284350"/>
            <a:ext cx="7852200" cy="574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/>
              <a:t>v8                                                                                       v10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500"/>
              <a:t>v11n                                                                                    v11s</a:t>
            </a:r>
            <a:endParaRPr sz="1500"/>
          </a:p>
        </p:txBody>
      </p:sp>
      <p:pic>
        <p:nvPicPr>
          <p:cNvPr id="65" name="Google Shape;65;p14" title="results_y8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82475"/>
            <a:ext cx="4222653" cy="2111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4" title="results_y10n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83828" y="113575"/>
            <a:ext cx="4222653" cy="2111327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14" title="results_y11n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52400" y="2918600"/>
            <a:ext cx="4222648" cy="2111324"/>
          </a:xfrm>
          <a:prstGeom prst="rect">
            <a:avLst/>
          </a:prstGeom>
          <a:noFill/>
          <a:ln>
            <a:noFill/>
          </a:ln>
        </p:spPr>
      </p:pic>
      <p:pic>
        <p:nvPicPr>
          <p:cNvPr id="68" name="Google Shape;68;p14" title="results_y11s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747350" y="2918600"/>
            <a:ext cx="4222648" cy="2111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5"/>
          <p:cNvSpPr txBox="1"/>
          <p:nvPr>
            <p:ph type="title"/>
          </p:nvPr>
        </p:nvSpPr>
        <p:spPr>
          <a:xfrm>
            <a:off x="273275" y="288850"/>
            <a:ext cx="40452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v8</a:t>
            </a:r>
            <a:endParaRPr/>
          </a:p>
        </p:txBody>
      </p:sp>
      <p:sp>
        <p:nvSpPr>
          <p:cNvPr id="74" name="Google Shape;74;p1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YOLOv8: 최종 선정 모델 (연산 속도 최적화)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Ultralytics의 현 세대 표준 모델입니다. 경쟁 모델 대비 가장 빠른 연산 속도(FPS)와 안정적인 성능을 제공하여, 저희 AMR 시스템의 실시간 환경에 가장 적합한 효율성을 입증했습니다.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mAP50-95: [실제값: 약 0.70 대] (경쟁 모델과 유의미한 차이 없음)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학습이 가장 빠르게 안정화되는 경향을 보였으며, 이는 모델의 구조적 효율성을 반영합니다.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[선정 이유] 다른 모델 대비 정확도 손실이 적으면서 최고의 FPS를 제공하여, CCTV 영상 처리의 실시간성 요구사항을 충족합니다.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성능(FPS)을 최우선으로 고려한 효율성 중심의 선택.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75" name="Google Shape;75;p15" title="results_y8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550" y="1516088"/>
            <a:ext cx="4222653" cy="2111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6"/>
          <p:cNvSpPr txBox="1"/>
          <p:nvPr>
            <p:ph type="title"/>
          </p:nvPr>
        </p:nvSpPr>
        <p:spPr>
          <a:xfrm>
            <a:off x="273275" y="288850"/>
            <a:ext cx="40452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v10</a:t>
            </a:r>
            <a:endParaRPr/>
          </a:p>
        </p:txBody>
      </p:sp>
      <p:sp>
        <p:nvSpPr>
          <p:cNvPr id="81" name="Google Shape;81;p16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YOLOv10: NMS-Free 모델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추론 속도 향상을 위해 NMS(Non-Maximum Suppression)를 제거하여 End-to-End 추론이 가능한 모델입니다. v8과의 속도 경쟁을 위한 비교군으로 활용했습니다.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mAP50-95: [실제값: v8과 유사하거나 약간 낮은 0.70대 초반]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NMS가 없지만, 저희 데이터셋 추론 환경에서는 YOLOv8 대비 압도적인 연산 속도 우위를 보이지 못했습니다.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[평가] NMS 제거라는 이점에도 불구하고, 저희의 하드웨어 환경 및 데이터셋에서 YOLOv8만큼의 효율성과 안정성을 제공하지 못했습니다.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이론적 효율성은 높았으나, 실제 시스템 적용 시 YOLOv8의 실질적인 속도 우위를 넘어서지 못함.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2" name="Google Shape;82;p16" title="results_y10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553" y="1516088"/>
            <a:ext cx="4222653" cy="21113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 txBox="1"/>
          <p:nvPr>
            <p:ph type="title"/>
          </p:nvPr>
        </p:nvSpPr>
        <p:spPr>
          <a:xfrm>
            <a:off x="273275" y="288850"/>
            <a:ext cx="40452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v11n</a:t>
            </a:r>
            <a:endParaRPr/>
          </a:p>
        </p:txBody>
      </p:sp>
      <p:sp>
        <p:nvSpPr>
          <p:cNvPr id="88" name="Google Shape;88;p17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YOLOv11n: 최신 SOTA 아키텍처 (Nano)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v11의 가장 작은 버전으로, 파라미터 효율성이 매우 높습니다. 경량 모델의 성능 상한선을 테스트하기 위한 비교군입니다.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mAP50-95: [실제값: v8 대비 근소하게 높은 0.75 내외]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v11 구조 특성상 연산 복잡도가 증가하여, mAP는 높지만 추론 속도 면에서 YOLOv8을 따라가지 못했습니다.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[평가] 정확도는 v8보다 높았으나, 그 차이가 AMR의 목표 정확도(95%)를 충족할 만큼 크지 않았습니다. 0.70대의 정확도에서는 더 빠른 연산 속도를 가진 v8을 선택하는 것이 시스템 전체에 유리합니다.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정확도 우위는 있었으나, 실시간 추론 속도의 희생을 감수할 만큼 유의미한 차이가 아니었음.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9" name="Google Shape;89;p17" title="results_y11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550" y="1516088"/>
            <a:ext cx="4222648" cy="2111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/>
          <p:nvPr>
            <p:ph type="title"/>
          </p:nvPr>
        </p:nvSpPr>
        <p:spPr>
          <a:xfrm>
            <a:off x="273275" y="288850"/>
            <a:ext cx="4045200" cy="713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v11s</a:t>
            </a:r>
            <a:endParaRPr/>
          </a:p>
        </p:txBody>
      </p:sp>
      <p:sp>
        <p:nvSpPr>
          <p:cNvPr id="95" name="Google Shape;95;p18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YOLOv11s: 최고 정확도 모델 (정밀도 중심)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v11 중 가장 높은 정확도를 목표로 하는 Small 버전입니다. 가장 정교한 바운딩 박스를 그리는 모델입니다.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mAP50-95: [실제값: 0.80 이상] (후보 중 최고 정확도)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높은 정확도를 위해 모델 복잡도가 증가하여, 4개 모델 중 연산 속도가 가장 느렸습니다. (최저 FPS)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[평가] 정확도는 최고였으나, 저희 프로젝트는 창고 CCTV의 초당 프레임 처리가 중요합니다. v11s는 v8 대비 연산 속도에서 큰 손해를 가져왔으며, 이 손해를 감수할 만큼의 정확도 이득이 시스템의 신뢰성(95%)을 결정적으로 높여주지는 못했습니다.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최고 정확도 달성에는 성공했으나, 실시간 운영을 저해하는 연산 속도 병목 문제로 제외.</a:t>
            </a:r>
            <a:endParaRPr sz="11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6" name="Google Shape;96;p18" title="results_y11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4550" y="1516088"/>
            <a:ext cx="4222648" cy="2111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ko"/>
              <a:t>정리</a:t>
            </a:r>
            <a:endParaRPr/>
          </a:p>
        </p:txBody>
      </p:sp>
      <p:grpSp>
        <p:nvGrpSpPr>
          <p:cNvPr id="102" name="Google Shape;102;p19"/>
          <p:cNvGrpSpPr/>
          <p:nvPr/>
        </p:nvGrpSpPr>
        <p:grpSpPr>
          <a:xfrm>
            <a:off x="424825" y="1253973"/>
            <a:ext cx="8294372" cy="799416"/>
            <a:chOff x="424813" y="1177875"/>
            <a:chExt cx="8294372" cy="849900"/>
          </a:xfrm>
        </p:grpSpPr>
        <p:sp>
          <p:nvSpPr>
            <p:cNvPr id="103" name="Google Shape;103;p19"/>
            <p:cNvSpPr/>
            <p:nvPr/>
          </p:nvSpPr>
          <p:spPr>
            <a:xfrm>
              <a:off x="2927684" y="1177875"/>
              <a:ext cx="5791500" cy="849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00"/>
            </a:p>
          </p:txBody>
        </p:sp>
        <p:sp>
          <p:nvSpPr>
            <p:cNvPr id="104" name="Google Shape;104;p19"/>
            <p:cNvSpPr/>
            <p:nvPr/>
          </p:nvSpPr>
          <p:spPr>
            <a:xfrm>
              <a:off x="424813" y="1177875"/>
              <a:ext cx="3055800" cy="849900"/>
            </a:xfrm>
            <a:prstGeom prst="homePlate">
              <a:avLst>
                <a:gd fmla="val 26719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00"/>
            </a:p>
          </p:txBody>
        </p:sp>
      </p:grpSp>
      <p:sp>
        <p:nvSpPr>
          <p:cNvPr id="105" name="Google Shape;105;p19"/>
          <p:cNvSpPr txBox="1"/>
          <p:nvPr>
            <p:ph idx="4294967295" type="body"/>
          </p:nvPr>
        </p:nvSpPr>
        <p:spPr>
          <a:xfrm>
            <a:off x="539675" y="1254200"/>
            <a:ext cx="2422500" cy="79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000">
                <a:solidFill>
                  <a:schemeClr val="lt1"/>
                </a:solidFill>
              </a:rPr>
              <a:t>yolo v8</a:t>
            </a:r>
            <a:endParaRPr sz="2000">
              <a:solidFill>
                <a:schemeClr val="lt1"/>
              </a:solidFill>
            </a:endParaRPr>
          </a:p>
        </p:txBody>
      </p:sp>
      <p:sp>
        <p:nvSpPr>
          <p:cNvPr id="106" name="Google Shape;106;p19"/>
          <p:cNvSpPr txBox="1"/>
          <p:nvPr>
            <p:ph idx="4294967295" type="body"/>
          </p:nvPr>
        </p:nvSpPr>
        <p:spPr>
          <a:xfrm>
            <a:off x="3480453" y="1254158"/>
            <a:ext cx="5111700" cy="79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특징:</a:t>
            </a:r>
            <a:r>
              <a:rPr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안정적인 베이스라인.</a:t>
            </a: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이유:</a:t>
            </a:r>
            <a:r>
              <a:rPr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준수한 성능이지만, 최신 아키텍처인 v11에 비해 정확도와 학습 수렴 속도 모두 </a:t>
            </a:r>
            <a:r>
              <a:rPr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밀림</a:t>
            </a:r>
            <a:r>
              <a:rPr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300">
              <a:solidFill>
                <a:schemeClr val="lt1"/>
              </a:solidFill>
            </a:endParaRPr>
          </a:p>
        </p:txBody>
      </p:sp>
      <p:grpSp>
        <p:nvGrpSpPr>
          <p:cNvPr id="107" name="Google Shape;107;p19"/>
          <p:cNvGrpSpPr/>
          <p:nvPr/>
        </p:nvGrpSpPr>
        <p:grpSpPr>
          <a:xfrm>
            <a:off x="424825" y="2127339"/>
            <a:ext cx="8294360" cy="799416"/>
            <a:chOff x="424813" y="2075689"/>
            <a:chExt cx="8294360" cy="849900"/>
          </a:xfrm>
        </p:grpSpPr>
        <p:sp>
          <p:nvSpPr>
            <p:cNvPr id="108" name="Google Shape;108;p19"/>
            <p:cNvSpPr/>
            <p:nvPr/>
          </p:nvSpPr>
          <p:spPr>
            <a:xfrm>
              <a:off x="2927672" y="2075689"/>
              <a:ext cx="5791500" cy="849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00"/>
            </a:p>
          </p:txBody>
        </p:sp>
        <p:sp>
          <p:nvSpPr>
            <p:cNvPr id="109" name="Google Shape;109;p19"/>
            <p:cNvSpPr/>
            <p:nvPr/>
          </p:nvSpPr>
          <p:spPr>
            <a:xfrm>
              <a:off x="424813" y="2075689"/>
              <a:ext cx="3055800" cy="849900"/>
            </a:xfrm>
            <a:prstGeom prst="homePlate">
              <a:avLst>
                <a:gd fmla="val 26719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00"/>
            </a:p>
          </p:txBody>
        </p:sp>
      </p:grpSp>
      <p:sp>
        <p:nvSpPr>
          <p:cNvPr id="110" name="Google Shape;110;p19"/>
          <p:cNvSpPr txBox="1"/>
          <p:nvPr>
            <p:ph idx="4294967295" type="body"/>
          </p:nvPr>
        </p:nvSpPr>
        <p:spPr>
          <a:xfrm>
            <a:off x="539675" y="2127450"/>
            <a:ext cx="2422500" cy="79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000">
                <a:solidFill>
                  <a:schemeClr val="lt1"/>
                </a:solidFill>
              </a:rPr>
              <a:t>yolo v10</a:t>
            </a:r>
            <a:endParaRPr sz="2000">
              <a:solidFill>
                <a:schemeClr val="lt1"/>
              </a:solidFill>
            </a:endParaRPr>
          </a:p>
        </p:txBody>
      </p:sp>
      <p:sp>
        <p:nvSpPr>
          <p:cNvPr id="111" name="Google Shape;111;p19"/>
          <p:cNvSpPr txBox="1"/>
          <p:nvPr>
            <p:ph idx="4294967295" type="body"/>
          </p:nvPr>
        </p:nvSpPr>
        <p:spPr>
          <a:xfrm>
            <a:off x="3480453" y="2127465"/>
            <a:ext cx="5111700" cy="79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특징:</a:t>
            </a:r>
            <a:r>
              <a:rPr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추론 속도 중심(NMS Free).</a:t>
            </a: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이유:</a:t>
            </a:r>
            <a:r>
              <a:rPr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본 프로젝트 데이터셋에서는 v11 시리즈 대비 학습 안정성과 최종 정확도가 다소 부족했음.</a:t>
            </a:r>
            <a:endParaRPr sz="1300">
              <a:solidFill>
                <a:schemeClr val="lt1"/>
              </a:solidFill>
            </a:endParaRPr>
          </a:p>
        </p:txBody>
      </p:sp>
      <p:grpSp>
        <p:nvGrpSpPr>
          <p:cNvPr id="112" name="Google Shape;112;p19"/>
          <p:cNvGrpSpPr/>
          <p:nvPr/>
        </p:nvGrpSpPr>
        <p:grpSpPr>
          <a:xfrm>
            <a:off x="424825" y="3000705"/>
            <a:ext cx="8294360" cy="799447"/>
            <a:chOff x="424813" y="2974405"/>
            <a:chExt cx="8294360" cy="849933"/>
          </a:xfrm>
        </p:grpSpPr>
        <p:sp>
          <p:nvSpPr>
            <p:cNvPr id="113" name="Google Shape;113;p19"/>
            <p:cNvSpPr/>
            <p:nvPr/>
          </p:nvSpPr>
          <p:spPr>
            <a:xfrm>
              <a:off x="2927672" y="2974438"/>
              <a:ext cx="5791500" cy="849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00"/>
            </a:p>
          </p:txBody>
        </p:sp>
        <p:sp>
          <p:nvSpPr>
            <p:cNvPr id="114" name="Google Shape;114;p19"/>
            <p:cNvSpPr/>
            <p:nvPr/>
          </p:nvSpPr>
          <p:spPr>
            <a:xfrm>
              <a:off x="424813" y="2974405"/>
              <a:ext cx="3055800" cy="849900"/>
            </a:xfrm>
            <a:prstGeom prst="homePlate">
              <a:avLst>
                <a:gd fmla="val 26719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00"/>
            </a:p>
          </p:txBody>
        </p:sp>
      </p:grpSp>
      <p:sp>
        <p:nvSpPr>
          <p:cNvPr id="115" name="Google Shape;115;p19"/>
          <p:cNvSpPr txBox="1"/>
          <p:nvPr>
            <p:ph idx="4294967295" type="body"/>
          </p:nvPr>
        </p:nvSpPr>
        <p:spPr>
          <a:xfrm>
            <a:off x="539675" y="3000775"/>
            <a:ext cx="2422500" cy="79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000">
                <a:solidFill>
                  <a:schemeClr val="lt1"/>
                </a:solidFill>
              </a:rPr>
              <a:t>yolo v11n</a:t>
            </a:r>
            <a:endParaRPr sz="2000">
              <a:solidFill>
                <a:schemeClr val="lt1"/>
              </a:solidFill>
            </a:endParaRPr>
          </a:p>
        </p:txBody>
      </p:sp>
      <p:sp>
        <p:nvSpPr>
          <p:cNvPr id="116" name="Google Shape;116;p19"/>
          <p:cNvSpPr txBox="1"/>
          <p:nvPr>
            <p:ph idx="4294967295" type="body"/>
          </p:nvPr>
        </p:nvSpPr>
        <p:spPr>
          <a:xfrm>
            <a:off x="3480453" y="3004317"/>
            <a:ext cx="5111700" cy="79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특징:</a:t>
            </a:r>
            <a:r>
              <a:rPr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압도적인 학습 속도, 훌륭한 가성비.</a:t>
            </a: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이유:</a:t>
            </a:r>
            <a:r>
              <a:rPr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v8 대비 성능이 비약적으로 상승했으나, 태생적인 체급 차이로 11s보다는 정밀도가 약간 낮음.</a:t>
            </a:r>
            <a:endParaRPr sz="1300">
              <a:solidFill>
                <a:schemeClr val="lt1"/>
              </a:solidFill>
            </a:endParaRPr>
          </a:p>
        </p:txBody>
      </p:sp>
      <p:grpSp>
        <p:nvGrpSpPr>
          <p:cNvPr id="117" name="Google Shape;117;p19"/>
          <p:cNvGrpSpPr/>
          <p:nvPr/>
        </p:nvGrpSpPr>
        <p:grpSpPr>
          <a:xfrm>
            <a:off x="424825" y="3874103"/>
            <a:ext cx="8294360" cy="799447"/>
            <a:chOff x="424813" y="3871259"/>
            <a:chExt cx="8294360" cy="849933"/>
          </a:xfrm>
        </p:grpSpPr>
        <p:sp>
          <p:nvSpPr>
            <p:cNvPr id="118" name="Google Shape;118;p19"/>
            <p:cNvSpPr/>
            <p:nvPr/>
          </p:nvSpPr>
          <p:spPr>
            <a:xfrm>
              <a:off x="2927672" y="3871292"/>
              <a:ext cx="5791500" cy="8499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00"/>
            </a:p>
          </p:txBody>
        </p:sp>
        <p:sp>
          <p:nvSpPr>
            <p:cNvPr id="119" name="Google Shape;119;p19"/>
            <p:cNvSpPr/>
            <p:nvPr/>
          </p:nvSpPr>
          <p:spPr>
            <a:xfrm>
              <a:off x="424813" y="3871259"/>
              <a:ext cx="3055800" cy="849900"/>
            </a:xfrm>
            <a:prstGeom prst="homePlate">
              <a:avLst>
                <a:gd fmla="val 26719" name="adj"/>
              </a:avLst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300"/>
            </a:p>
          </p:txBody>
        </p:sp>
      </p:grpSp>
      <p:sp>
        <p:nvSpPr>
          <p:cNvPr id="120" name="Google Shape;120;p19"/>
          <p:cNvSpPr txBox="1"/>
          <p:nvPr>
            <p:ph idx="4294967295" type="body"/>
          </p:nvPr>
        </p:nvSpPr>
        <p:spPr>
          <a:xfrm>
            <a:off x="539675" y="3874100"/>
            <a:ext cx="2422500" cy="79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000">
                <a:solidFill>
                  <a:schemeClr val="lt1"/>
                </a:solidFill>
              </a:rPr>
              <a:t>yolo v11s</a:t>
            </a:r>
            <a:endParaRPr sz="2000">
              <a:solidFill>
                <a:schemeClr val="lt1"/>
              </a:solidFill>
            </a:endParaRPr>
          </a:p>
        </p:txBody>
      </p:sp>
      <p:sp>
        <p:nvSpPr>
          <p:cNvPr id="121" name="Google Shape;121;p19"/>
          <p:cNvSpPr txBox="1"/>
          <p:nvPr>
            <p:ph idx="4294967295" type="body"/>
          </p:nvPr>
        </p:nvSpPr>
        <p:spPr>
          <a:xfrm>
            <a:off x="3480453" y="3876311"/>
            <a:ext cx="5111700" cy="799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특징:</a:t>
            </a:r>
            <a:r>
              <a:rPr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가장 높은 정확도(mAP50-95), 가장 낮은 Loss(정밀함)</a:t>
            </a:r>
            <a:r>
              <a:rPr lang="ko" sz="1300">
                <a:solidFill>
                  <a:schemeClr val="lt1"/>
                </a:solidFill>
              </a:rPr>
              <a:t> </a:t>
            </a:r>
            <a:endParaRPr sz="1300">
              <a:solidFill>
                <a:schemeClr val="lt1"/>
              </a:solidFill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</a:pPr>
            <a:r>
              <a:rPr b="1"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이유:</a:t>
            </a:r>
            <a:r>
              <a:rPr lang="ko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CCTV 특성상 파라미터 수가 더 많은 Small 모델이 Nano 모델보다 특징 추출 능력이 우수함.</a:t>
            </a:r>
            <a:endParaRPr sz="13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idx="4294967295" type="title"/>
          </p:nvPr>
        </p:nvSpPr>
        <p:spPr>
          <a:xfrm>
            <a:off x="311700" y="841225"/>
            <a:ext cx="8520600" cy="96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2500">
                <a:latin typeface="Arial"/>
                <a:ea typeface="Arial"/>
                <a:cs typeface="Arial"/>
                <a:sym typeface="Arial"/>
              </a:rPr>
              <a:t>최종 선정 및 기술적 결정 근거</a:t>
            </a:r>
            <a:endParaRPr sz="25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20"/>
          <p:cNvSpPr txBox="1"/>
          <p:nvPr>
            <p:ph idx="4294967295" type="body"/>
          </p:nvPr>
        </p:nvSpPr>
        <p:spPr>
          <a:xfrm>
            <a:off x="388500" y="1981025"/>
            <a:ext cx="8443800" cy="239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ko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핵심 요약: v11s가 mAP는 가장 높았지만, v8과의 mAP 차이가 1% 정도에 불과했습니다. 반면, FPS 차이는 50% 이상 발생했습니다.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ko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선정 이유: YOLOv8을 최종 선정합니다. AMR 시스템은 실시간 장애물 회피 및 재고 인식을 동시에 처리해야 하므로, 정확도의 근소한 이득보다 연산 속도의 압도적인 우위를 선택하는 것이 시스템의 전체적인 안정성과 신뢰성을 높인다고 판단했습니다.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Char char="●"/>
            </a:pPr>
            <a:r>
              <a:rPr lang="ko" sz="15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기술 목표: YOLOv8을 기반으로 최적화 도구를 추가 적용하여, 정확도를 유지하면서 연산 속도를 더욱 극대화하는 방향으로 후속 작업을 진행할 계획입니다.</a:t>
            </a:r>
            <a:endParaRPr sz="15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late">
  <a:themeElements>
    <a:clrScheme name="Slate">
      <a:dk1>
        <a:srgbClr val="FFFFFF"/>
      </a:dk1>
      <a:lt1>
        <a:srgbClr val="37474F"/>
      </a:lt1>
      <a:dk2>
        <a:srgbClr val="9E9E9E"/>
      </a:dk2>
      <a:lt2>
        <a:srgbClr val="E0E0E0"/>
      </a:lt2>
      <a:accent1>
        <a:srgbClr val="616161"/>
      </a:accent1>
      <a:accent2>
        <a:srgbClr val="78909C"/>
      </a:accent2>
      <a:accent3>
        <a:srgbClr val="CACACA"/>
      </a:accent3>
      <a:accent4>
        <a:srgbClr val="64FFDA"/>
      </a:accent4>
      <a:accent5>
        <a:srgbClr val="FFD966"/>
      </a:accent5>
      <a:accent6>
        <a:srgbClr val="F5F5F5"/>
      </a:accent6>
      <a:hlink>
        <a:srgbClr val="FFD966"/>
      </a:hlink>
      <a:folHlink>
        <a:srgbClr val="FFD96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